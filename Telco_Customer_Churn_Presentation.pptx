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1600200"/>
            <a:ext cx="82296" cy="19202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FB3D9"/>
                </a:solidFill>
                <a:latin typeface="Calibri"/>
              </a:rPr>
              <a:t>ANALYSTLAB AFRICA  •  DATA ANALYTICS INTERNSHIP  •  WEEK 5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 dirty="0">
                <a:solidFill>
                  <a:srgbClr val="FFFFFF"/>
                </a:solidFill>
                <a:latin typeface="Calibri"/>
              </a:rPr>
              <a:t>Telco Customer Churn</a:t>
            </a:r>
          </a:p>
          <a:p>
            <a:pPr algn="l">
              <a:lnSpc>
                <a:spcPct val="110000"/>
              </a:lnSpc>
            </a:pPr>
            <a:r>
              <a:rPr sz="2600" b="0" i="0" dirty="0">
                <a:solidFill>
                  <a:srgbClr val="9FB3D9"/>
                </a:solidFill>
                <a:latin typeface="Calibri"/>
              </a:rPr>
              <a:t>Business Analytics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9D4EA"/>
                </a:solidFill>
                <a:latin typeface="Calibri"/>
              </a:rPr>
              <a:t>Why are customers leaving — and which factors drive churn the most?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0060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5010912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0E7C7B"/>
                </a:solidFill>
                <a:latin typeface="Calibri"/>
              </a:rPr>
              <a:t>PREPARED BY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Richard Fajorin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010912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0E7C7B"/>
                </a:solidFill>
                <a:latin typeface="Calibri"/>
              </a:rPr>
              <a:t>PROGRAM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AnalystLab Africa — Data Analytics Internship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825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Tools: Python  •  Pandas  •  Matplotlib  •  Seaborn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Calibri"/>
              </a:rPr>
              <a:t>01 —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21F3D"/>
                </a:solidFill>
                <a:latin typeface="Calibri"/>
              </a:rPr>
              <a:t>Why Are Customers Leaving?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237744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B39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800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21F3D"/>
                </a:solidFill>
                <a:latin typeface="Calibri"/>
              </a:rPr>
              <a:t>Customer churn is eroding the subscriber base.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50" b="0" i="0">
                <a:solidFill>
                  <a:srgbClr val="5A6472"/>
                </a:solidFill>
                <a:latin typeface="Calibri"/>
              </a:rPr>
              <a:t>1 in 4 customers (26.54%) left within the analysis period — a retention problem that compounds with every billing cycle.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B39"/>
                </a:solidFill>
                <a:latin typeface="Calibri"/>
              </a:rPr>
              <a:t>KEY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4800600" cy="98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 dirty="0">
                <a:solidFill>
                  <a:srgbClr val="0E7C7B"/>
                </a:solidFill>
                <a:latin typeface="Calibri"/>
              </a:rPr>
              <a:t>▪  </a:t>
            </a:r>
            <a:r>
              <a:rPr sz="1300" b="1" i="0" dirty="0">
                <a:solidFill>
                  <a:srgbClr val="121F3D"/>
                </a:solidFill>
                <a:latin typeface="Calibri"/>
              </a:rPr>
              <a:t>Why — </a:t>
            </a:r>
            <a:r>
              <a:rPr sz="1300" b="0" i="0" dirty="0">
                <a:solidFill>
                  <a:srgbClr val="121F3D"/>
                </a:solidFill>
                <a:latin typeface="Calibri"/>
              </a:rPr>
              <a:t>are customers leaving, and what patterns precede churn?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 dirty="0">
                <a:solidFill>
                  <a:srgbClr val="0E7C7B"/>
                </a:solidFill>
                <a:latin typeface="Calibri"/>
              </a:rPr>
              <a:t>▪  </a:t>
            </a:r>
            <a:r>
              <a:rPr sz="1300" b="1" i="0" dirty="0">
                <a:solidFill>
                  <a:srgbClr val="121F3D"/>
                </a:solidFill>
                <a:latin typeface="Calibri"/>
              </a:rPr>
              <a:t>Which factors — </a:t>
            </a:r>
            <a:r>
              <a:rPr sz="1300" b="0" i="0" dirty="0">
                <a:solidFill>
                  <a:srgbClr val="121F3D"/>
                </a:solidFill>
                <a:latin typeface="Calibri"/>
              </a:rPr>
              <a:t>contribute most contract, tenure, charges, service, payment?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 dirty="0">
                <a:solidFill>
                  <a:srgbClr val="0E7C7B"/>
                </a:solidFill>
                <a:latin typeface="Calibri"/>
              </a:rPr>
              <a:t>▪  </a:t>
            </a:r>
            <a:r>
              <a:rPr sz="1300" b="1" i="0" dirty="0">
                <a:solidFill>
                  <a:srgbClr val="121F3D"/>
                </a:solidFill>
                <a:latin typeface="Calibri"/>
              </a:rPr>
              <a:t>Who — </a:t>
            </a:r>
            <a:r>
              <a:rPr sz="1300" b="0" i="0" dirty="0">
                <a:solidFill>
                  <a:srgbClr val="121F3D"/>
                </a:solidFill>
                <a:latin typeface="Calibri"/>
              </a:rPr>
              <a:t>are the highest-risk segments we should target first?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7B"/>
                </a:solidFill>
                <a:latin typeface="Calibri"/>
              </a:rPr>
              <a:t>ANALYTICAL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800600" cy="18453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 b="1" i="0" dirty="0">
                <a:solidFill>
                  <a:srgbClr val="E07B39"/>
                </a:solidFill>
                <a:latin typeface="Calibri"/>
              </a:rPr>
              <a:t>▪  </a:t>
            </a:r>
            <a:r>
              <a:rPr sz="1350" b="1" i="0" dirty="0">
                <a:solidFill>
                  <a:srgbClr val="FFFFFF"/>
                </a:solidFill>
                <a:latin typeface="Calibri"/>
              </a:rPr>
              <a:t>Explore — 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7,043 customer records structure, quality, distributions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 b="1" i="0" dirty="0">
                <a:solidFill>
                  <a:srgbClr val="E07B39"/>
                </a:solidFill>
                <a:latin typeface="Calibri"/>
              </a:rPr>
              <a:t>▪  </a:t>
            </a:r>
            <a:r>
              <a:rPr sz="1350" b="1" i="0" dirty="0">
                <a:solidFill>
                  <a:srgbClr val="FFFFFF"/>
                </a:solidFill>
                <a:latin typeface="Calibri"/>
              </a:rPr>
              <a:t>Quantify — 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churn across contract type, tenure, charges, internet service &amp; payment method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 b="1" i="0" dirty="0">
                <a:solidFill>
                  <a:srgbClr val="E07B39"/>
                </a:solidFill>
                <a:latin typeface="Calibri"/>
              </a:rPr>
              <a:t>▪  </a:t>
            </a:r>
            <a:r>
              <a:rPr sz="1350" b="1" i="0" dirty="0">
                <a:solidFill>
                  <a:srgbClr val="FFFFFF"/>
                </a:solidFill>
                <a:latin typeface="Calibri"/>
              </a:rPr>
              <a:t>Diagnose — 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behavior patterns and high-risk segments behind the 26.54% churn rate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 b="1" i="0" dirty="0">
                <a:solidFill>
                  <a:srgbClr val="E07B39"/>
                </a:solidFill>
                <a:latin typeface="Calibri"/>
              </a:rPr>
              <a:t>▪  </a:t>
            </a:r>
            <a:r>
              <a:rPr sz="1350" b="1" i="0" dirty="0">
                <a:solidFill>
                  <a:srgbClr val="FFFFFF"/>
                </a:solidFill>
                <a:latin typeface="Calibri"/>
              </a:rPr>
              <a:t>Recommend — 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3–5 practical, data-backed retention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2"/>
                </a:solidFill>
                <a:latin typeface="Calibri"/>
              </a:rPr>
              <a:t>Telco Customer Churn — Business Analytics Case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2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Calibri"/>
              </a:rPr>
              <a:t>02 — 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21F3D"/>
                </a:solidFill>
                <a:latin typeface="Calibri"/>
              </a:rPr>
              <a:t>Dataset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237744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64008" cy="13716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609344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5EAA"/>
                </a:solidFill>
                <a:latin typeface="Calibri"/>
              </a:rPr>
              <a:t>7,043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267712"/>
            <a:ext cx="23042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472"/>
                </a:solidFill>
                <a:latin typeface="Calibri"/>
              </a:rPr>
              <a:t>Total customer records analyzed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6304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64008" cy="1371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38728" y="1609344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7B39"/>
                </a:solidFill>
                <a:latin typeface="Calibri"/>
              </a:rPr>
              <a:t>1,869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267712"/>
            <a:ext cx="23042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472"/>
                </a:solidFill>
                <a:latin typeface="Calibri"/>
              </a:rPr>
              <a:t>Churned customers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6304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463040"/>
            <a:ext cx="64008" cy="13716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609344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7C7B"/>
                </a:solidFill>
                <a:latin typeface="Calibri"/>
              </a:rPr>
              <a:t>5,174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267712"/>
            <a:ext cx="23042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472"/>
                </a:solidFill>
                <a:latin typeface="Calibri"/>
              </a:rPr>
              <a:t>Retained customers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46304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06840" y="1463040"/>
            <a:ext cx="64008" cy="1371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08008" y="1609344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7B39"/>
                </a:solidFill>
                <a:latin typeface="Calibri"/>
              </a:rPr>
              <a:t>26.54%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2267712"/>
            <a:ext cx="23042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472"/>
                </a:solidFill>
                <a:latin typeface="Calibri"/>
              </a:rPr>
              <a:t>Overall churn 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063240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2918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5EAA"/>
                </a:solidFill>
                <a:latin typeface="Calibri"/>
              </a:rPr>
              <a:t>CUSTOMER PROFILE (AVERAGES)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70332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21F3D"/>
                </a:solidFill>
                <a:latin typeface="Calibri"/>
              </a:rPr>
              <a:t>Average monthly charge — </a:t>
            </a:r>
            <a:r>
              <a:rPr sz="1300" b="0" i="0">
                <a:solidFill>
                  <a:srgbClr val="121F3D"/>
                </a:solidFill>
                <a:latin typeface="Calibri"/>
              </a:rPr>
              <a:t>$64.76 across the customer base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21F3D"/>
                </a:solidFill>
                <a:latin typeface="Calibri"/>
              </a:rPr>
              <a:t>Average tenure — </a:t>
            </a:r>
            <a:r>
              <a:rPr sz="1300" b="0" i="0">
                <a:solidFill>
                  <a:srgbClr val="121F3D"/>
                </a:solidFill>
                <a:latin typeface="Calibri"/>
              </a:rPr>
              <a:t>32.37 months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21F3D"/>
                </a:solidFill>
                <a:latin typeface="Calibri"/>
              </a:rPr>
              <a:t>Demographics &amp; services — </a:t>
            </a:r>
            <a:r>
              <a:rPr sz="1300" b="0" i="0">
                <a:solidFill>
                  <a:srgbClr val="121F3D"/>
                </a:solidFill>
                <a:latin typeface="Calibri"/>
              </a:rPr>
              <a:t>senior-citizen status, contract, internet service, payment method captured per customer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063240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32918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5EAA"/>
                </a:solidFill>
                <a:latin typeface="Calibri"/>
              </a:rPr>
              <a:t>DATA QUALITY &amp; PREPARATION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0332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21F3D"/>
                </a:solidFill>
                <a:latin typeface="Calibri"/>
              </a:rPr>
              <a:t>Assessment — </a:t>
            </a:r>
            <a:r>
              <a:rPr sz="1300" b="0" i="0">
                <a:solidFill>
                  <a:srgbClr val="121F3D"/>
                </a:solidFill>
                <a:latin typeface="Calibri"/>
              </a:rPr>
              <a:t>missing-value checks, data-type verification and summary statistics completed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21F3D"/>
                </a:solidFill>
                <a:latin typeface="Calibri"/>
              </a:rPr>
              <a:t>Encoding — </a:t>
            </a:r>
            <a:r>
              <a:rPr sz="1300" b="0" i="0">
                <a:solidFill>
                  <a:srgbClr val="121F3D"/>
                </a:solidFill>
                <a:latin typeface="Calibri"/>
              </a:rPr>
              <a:t>churn converted to a numeric flag for correlation analysis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21F3D"/>
                </a:solidFill>
                <a:latin typeface="Calibri"/>
              </a:rPr>
              <a:t>Segmentation — </a:t>
            </a:r>
            <a:r>
              <a:rPr sz="1300" b="0" i="0">
                <a:solidFill>
                  <a:srgbClr val="121F3D"/>
                </a:solidFill>
                <a:latin typeface="Calibri"/>
              </a:rPr>
              <a:t>tenure grouped into bands (0–12, 13–24, 25–48, 49–72 months) for trend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2"/>
                </a:solidFill>
                <a:latin typeface="Calibri"/>
              </a:rPr>
              <a:t>Telco Customer Churn — Business Analytics Case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2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Calibri"/>
              </a:rPr>
              <a:t>03 — CHURN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21F3D"/>
                </a:solidFill>
                <a:latin typeface="Calibri"/>
              </a:rPr>
              <a:t>One in Four Customers Is Leaving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237744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76072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6472"/>
                </a:solidFill>
                <a:latin typeface="Calibri"/>
              </a:rPr>
              <a:t>CUSTOMER CHURN DISTRIBUTION</a:t>
            </a:r>
          </a:p>
        </p:txBody>
      </p:sp>
      <p:pic>
        <p:nvPicPr>
          <p:cNvPr id="7" name="Picture 6" descr="customer churn 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5029200" cy="3781769"/>
          </a:xfrm>
          <a:prstGeom prst="rect">
            <a:avLst/>
          </a:prstGeom>
          <a:ln w="12700">
            <a:solidFill>
              <a:srgbClr val="D9DEE8"/>
            </a:solidFill>
          </a:ln>
          <a:effectLst/>
        </p:spPr>
      </p:pic>
      <p:sp>
        <p:nvSpPr>
          <p:cNvPr id="8" name="Rounded Rectangle 7"/>
          <p:cNvSpPr/>
          <p:nvPr/>
        </p:nvSpPr>
        <p:spPr>
          <a:xfrm>
            <a:off x="6537960" y="146304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60" y="1463040"/>
            <a:ext cx="64008" cy="12344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39128" y="1609344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7B39"/>
                </a:solidFill>
                <a:latin typeface="Calibri"/>
              </a:rPr>
              <a:t>26.54%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8" y="213055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472"/>
                </a:solidFill>
                <a:latin typeface="Calibri"/>
              </a:rPr>
              <a:t>of all customers churned (1,869 of 7,043)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88036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2880360"/>
            <a:ext cx="64008" cy="1234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39128" y="3026664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7C7B"/>
                </a:solidFill>
                <a:latin typeface="Calibri"/>
              </a:rPr>
              <a:t>73.46%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354787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472"/>
                </a:solidFill>
                <a:latin typeface="Calibri"/>
              </a:rPr>
              <a:t>retained — but the base is shrinking every cycle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4297680"/>
            <a:ext cx="5120640" cy="1874519"/>
          </a:xfrm>
          <a:prstGeom prst="roundRect">
            <a:avLst>
              <a:gd name="adj" fmla="val 6000"/>
            </a:avLst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12280" y="4526280"/>
            <a:ext cx="4572000" cy="735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 dirty="0">
                <a:solidFill>
                  <a:srgbClr val="0E7C7B"/>
                </a:solidFill>
                <a:latin typeface="Calibri"/>
              </a:rPr>
              <a:t>STAKEHOLDER TAKEAWAY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 dirty="0">
                <a:solidFill>
                  <a:srgbClr val="FFFFFF"/>
                </a:solidFill>
                <a:latin typeface="Calibri"/>
              </a:rPr>
              <a:t>Churn is not evenly spread it concentrates in specific segments. The next slides isolate exactly where the risk sits.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2"/>
                </a:solidFill>
                <a:latin typeface="Calibri"/>
              </a:rPr>
              <a:t>Telco Customer Churn — Business Analytics Case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2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Calibri"/>
              </a:rPr>
              <a:t>04 — KEY CHURN FACTOR: CONTRACT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21F3D"/>
                </a:solidFill>
                <a:latin typeface="Calibri"/>
              </a:rPr>
              <a:t>Contract Flexibility Is the Strongest Churn Driver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237744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76072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6472"/>
                </a:solidFill>
                <a:latin typeface="Calibri"/>
              </a:rPr>
              <a:t>CHURNED VS RETAINED, BY CONTRACT</a:t>
            </a:r>
          </a:p>
        </p:txBody>
      </p:sp>
      <p:pic>
        <p:nvPicPr>
          <p:cNvPr id="7" name="Picture 6" descr="customer churn by contract 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5029200" cy="3369212"/>
          </a:xfrm>
          <a:prstGeom prst="rect">
            <a:avLst/>
          </a:prstGeom>
          <a:ln w="12700">
            <a:solidFill>
              <a:srgbClr val="D9DEE8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6537960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6472"/>
                </a:solidFill>
                <a:latin typeface="Calibri"/>
              </a:rPr>
              <a:t>CHURN RATE BY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874519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1F3D"/>
                </a:solidFill>
                <a:latin typeface="Calibri"/>
              </a:rPr>
              <a:t>Month-to-month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1874519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07B39"/>
                </a:solidFill>
                <a:latin typeface="Calibri"/>
              </a:rPr>
              <a:t>42.71%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2185415"/>
            <a:ext cx="5120640" cy="274320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37960" y="2185415"/>
            <a:ext cx="4860056" cy="274320"/>
          </a:xfrm>
          <a:prstGeom prst="roundRect">
            <a:avLst>
              <a:gd name="adj" fmla="val 6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743199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1F3D"/>
                </a:solidFill>
                <a:latin typeface="Calibri"/>
              </a:rPr>
              <a:t>One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2743199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2E5EAA"/>
                </a:solidFill>
                <a:latin typeface="Calibri"/>
              </a:rPr>
              <a:t>11.27%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054095"/>
            <a:ext cx="5120640" cy="274320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37960" y="3054095"/>
            <a:ext cx="1282435" cy="274320"/>
          </a:xfrm>
          <a:prstGeom prst="roundRect">
            <a:avLst>
              <a:gd name="adj" fmla="val 6000"/>
            </a:avLst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3611879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1F3D"/>
                </a:solidFill>
                <a:latin typeface="Calibri"/>
              </a:rPr>
              <a:t>Two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3611879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0E7C7B"/>
                </a:solidFill>
                <a:latin typeface="Calibri"/>
              </a:rPr>
              <a:t>2.83%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3922775"/>
            <a:ext cx="5120640" cy="274320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37960" y="3922775"/>
            <a:ext cx="322031" cy="274320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37960" y="4617720"/>
            <a:ext cx="51206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4828032"/>
            <a:ext cx="4572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E07B39"/>
                </a:solidFill>
                <a:latin typeface="Calibri"/>
              </a:rPr>
              <a:t>WHAT IT MEANS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121F3D"/>
                </a:solidFill>
                <a:latin typeface="Calibri"/>
              </a:rPr>
              <a:t>Month-to-month customers churn ~15× more than two-year customers. Commitment length is the single clearest churn signal in the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2"/>
                </a:solidFill>
                <a:latin typeface="Calibri"/>
              </a:rPr>
              <a:t>Telco Customer Churn — Business Analytics Case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2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Calibri"/>
              </a:rPr>
              <a:t>05 — KEY CHURN FACTOR: TENURE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21F3D"/>
                </a:solidFill>
                <a:latin typeface="Calibri"/>
              </a:rPr>
              <a:t>The First Year Is the Danger Zone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237744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76072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6472"/>
                </a:solidFill>
                <a:latin typeface="Calibri"/>
              </a:rPr>
              <a:t>CHURN RATE BY TENURE GROUP</a:t>
            </a:r>
          </a:p>
        </p:txBody>
      </p:sp>
      <p:pic>
        <p:nvPicPr>
          <p:cNvPr id="7" name="Picture 6" descr="Churn rate by custo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5029200" cy="3116412"/>
          </a:xfrm>
          <a:prstGeom prst="rect">
            <a:avLst/>
          </a:prstGeom>
          <a:ln w="12700">
            <a:solidFill>
              <a:srgbClr val="D9DEE8"/>
            </a:solidFill>
          </a:ln>
          <a:effectLst/>
        </p:spPr>
      </p:pic>
      <p:sp>
        <p:nvSpPr>
          <p:cNvPr id="8" name="Rounded Rectangle 7"/>
          <p:cNvSpPr/>
          <p:nvPr/>
        </p:nvSpPr>
        <p:spPr>
          <a:xfrm>
            <a:off x="6537960" y="1463040"/>
            <a:ext cx="248716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60" y="1463040"/>
            <a:ext cx="64008" cy="13258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39128" y="1609344"/>
            <a:ext cx="21214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E07B39"/>
                </a:solidFill>
                <a:latin typeface="Calibri"/>
              </a:rPr>
              <a:t>17.98 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8" y="2221992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472"/>
                </a:solidFill>
                <a:latin typeface="Calibri"/>
              </a:rPr>
              <a:t>avg tenure — churned customers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71432" y="1463040"/>
            <a:ext cx="248716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71432" y="1463040"/>
            <a:ext cx="64008" cy="13258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72600" y="1609344"/>
            <a:ext cx="21214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E7C7B"/>
                </a:solidFill>
                <a:latin typeface="Calibri"/>
              </a:rPr>
              <a:t>37.57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221992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472"/>
                </a:solidFill>
                <a:latin typeface="Calibri"/>
              </a:rPr>
              <a:t>avg tenure — retained 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301752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12280" y="3218688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E07B39"/>
                </a:solidFill>
                <a:latin typeface="Calibri"/>
              </a:rPr>
              <a:t>47.44%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  of customers in their first 12 months churned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95020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FB3D9"/>
                </a:solidFill>
                <a:latin typeface="Calibri"/>
              </a:rPr>
              <a:t>Churn falls steadily with every tenure band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443484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4645152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E07B39"/>
                </a:solidFill>
                <a:latin typeface="Calibri"/>
              </a:rPr>
              <a:t>WHAT IT MEANS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121F3D"/>
                </a:solidFill>
                <a:latin typeface="Calibri"/>
              </a:rPr>
              <a:t>Churned customers leave after less than half the tenure of retained ones. Onboarding and the first-year experience are the critical retention window.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2"/>
                </a:solidFill>
                <a:latin typeface="Calibri"/>
              </a:rPr>
              <a:t>Telco Customer Churn — Business Analytics Case 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2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Calibri"/>
              </a:rPr>
              <a:t>06 — KEY CHURN FACTOR: MONTHLY CHARGES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21F3D"/>
                </a:solidFill>
                <a:latin typeface="Calibri"/>
              </a:rPr>
              <a:t>Churned Customers Pay ~$13 More Per 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237744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76072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6472"/>
                </a:solidFill>
                <a:latin typeface="Calibri"/>
              </a:rPr>
              <a:t>CORRELATION HEATMAP — NUMERIC VARIABLES</a:t>
            </a:r>
          </a:p>
        </p:txBody>
      </p:sp>
      <p:pic>
        <p:nvPicPr>
          <p:cNvPr id="7" name="Picture 6" descr="Corelletion Heatmap tel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965960"/>
            <a:ext cx="4805450" cy="4069080"/>
          </a:xfrm>
          <a:prstGeom prst="rect">
            <a:avLst/>
          </a:prstGeom>
          <a:ln w="12700">
            <a:solidFill>
              <a:srgbClr val="D9DEE8"/>
            </a:solidFill>
          </a:ln>
          <a:effectLst/>
        </p:spPr>
      </p:pic>
      <p:sp>
        <p:nvSpPr>
          <p:cNvPr id="8" name="Rounded Rectangle 7"/>
          <p:cNvSpPr/>
          <p:nvPr/>
        </p:nvSpPr>
        <p:spPr>
          <a:xfrm>
            <a:off x="6537960" y="1463040"/>
            <a:ext cx="248716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60" y="1463040"/>
            <a:ext cx="64008" cy="13258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39128" y="1609344"/>
            <a:ext cx="21214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E07B39"/>
                </a:solidFill>
                <a:latin typeface="Calibri"/>
              </a:rPr>
              <a:t>$74.44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8" y="2221992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472"/>
                </a:solidFill>
                <a:latin typeface="Calibri"/>
              </a:rPr>
              <a:t>avg monthly charge — churned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71432" y="1463040"/>
            <a:ext cx="248716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71432" y="1463040"/>
            <a:ext cx="64008" cy="13258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72600" y="1609344"/>
            <a:ext cx="21214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E7C7B"/>
                </a:solidFill>
                <a:latin typeface="Calibri"/>
              </a:rPr>
              <a:t>$61.27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221992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472"/>
                </a:solidFill>
                <a:latin typeface="Calibri"/>
              </a:rPr>
              <a:t>avg monthly charge — retained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301752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12280" y="3218688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E07B39"/>
                </a:solidFill>
                <a:latin typeface="Calibri"/>
              </a:rPr>
              <a:t>$13.18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  higher average monthly bill among churners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95020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FB3D9"/>
                </a:solidFill>
                <a:latin typeface="Calibri"/>
              </a:rPr>
              <a:t>Price sensitivity is a measurable churn signal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443484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4645152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E07B39"/>
                </a:solidFill>
                <a:latin typeface="Calibri"/>
              </a:rPr>
              <a:t>WHAT IT MEANS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121F3D"/>
                </a:solidFill>
                <a:latin typeface="Calibri"/>
              </a:rPr>
              <a:t>Tenure shows the strongest relationship with churn (−0.35): loyalty builds over time, while higher bills accompany departures.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2"/>
                </a:solidFill>
                <a:latin typeface="Calibri"/>
              </a:rPr>
              <a:t>Telco Customer Churn — Business Analytics Case 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2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Calibri"/>
              </a:rPr>
              <a:t>07 — KEY CHURN FACTORS: SERVICE &amp; PAYMENT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21F3D"/>
                </a:solidFill>
                <a:latin typeface="Calibri"/>
              </a:rPr>
              <a:t>Service Type and Payment Behavior Shape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237744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57784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6472"/>
                </a:solidFill>
                <a:latin typeface="Calibri"/>
              </a:rPr>
              <a:t>CHURN BY INTERNET SERVICE</a:t>
            </a:r>
          </a:p>
        </p:txBody>
      </p:sp>
      <p:pic>
        <p:nvPicPr>
          <p:cNvPr id="7" name="Picture 6" descr="Customer churn by internet 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20240"/>
            <a:ext cx="4572000" cy="3062920"/>
          </a:xfrm>
          <a:prstGeom prst="rect">
            <a:avLst/>
          </a:prstGeom>
          <a:ln w="12700">
            <a:solidFill>
              <a:srgbClr val="D9DEE8"/>
            </a:solidFill>
          </a:ln>
          <a:effectLst/>
        </p:spPr>
      </p:pic>
      <p:sp>
        <p:nvSpPr>
          <p:cNvPr id="8" name="Rounded Rectangle 7"/>
          <p:cNvSpPr/>
          <p:nvPr/>
        </p:nvSpPr>
        <p:spPr>
          <a:xfrm>
            <a:off x="6263640" y="1463040"/>
            <a:ext cx="539496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6472"/>
                </a:solidFill>
                <a:latin typeface="Calibri"/>
              </a:rPr>
              <a:t>CHURN BY PAYMENT METHOD</a:t>
            </a:r>
          </a:p>
        </p:txBody>
      </p:sp>
      <p:pic>
        <p:nvPicPr>
          <p:cNvPr id="10" name="Picture 9" descr="Customer churn by payment 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20240"/>
            <a:ext cx="5029200" cy="3260748"/>
          </a:xfrm>
          <a:prstGeom prst="rect">
            <a:avLst/>
          </a:prstGeom>
          <a:ln w="12700">
            <a:solidFill>
              <a:srgbClr val="D9DEE8"/>
            </a:solidFill>
          </a:ln>
          <a:effectLst/>
        </p:spPr>
      </p:pic>
      <p:sp>
        <p:nvSpPr>
          <p:cNvPr id="11" name="Rounded Rectangle 10"/>
          <p:cNvSpPr/>
          <p:nvPr/>
        </p:nvSpPr>
        <p:spPr>
          <a:xfrm>
            <a:off x="502920" y="5440680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12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596128"/>
            <a:ext cx="10607040" cy="4193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dirty="0">
                <a:solidFill>
                  <a:srgbClr val="E07B39"/>
                </a:solidFill>
                <a:latin typeface="Calibri"/>
              </a:rPr>
              <a:t>WHAT IT MEANS  </a:t>
            </a:r>
            <a:r>
              <a:rPr sz="1250" b="0" i="0" dirty="0">
                <a:solidFill>
                  <a:srgbClr val="FFFFFF"/>
                </a:solidFill>
                <a:latin typeface="Calibri"/>
              </a:rPr>
              <a:t>Fiber-optic customers account for the largest churn count, and electronic-check payers churn far more than customers on automatic payment methods</a:t>
            </a:r>
            <a:r>
              <a:rPr lang="en-US" sz="1250" b="0" i="0" dirty="0">
                <a:solidFill>
                  <a:srgbClr val="FFFFFF"/>
                </a:solidFill>
                <a:latin typeface="Calibri"/>
              </a:rPr>
              <a:t>,</a:t>
            </a:r>
            <a:r>
              <a:rPr sz="1250" b="0" i="0" dirty="0">
                <a:solidFill>
                  <a:srgbClr val="FFFFFF"/>
                </a:solidFill>
                <a:latin typeface="Calibri"/>
              </a:rPr>
              <a:t> billing friction and service experience both merit investigation.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2"/>
                </a:solidFill>
                <a:latin typeface="Calibri"/>
              </a:rPr>
              <a:t>Telco Customer Churn — Business Analytics Case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2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Calibri"/>
              </a:rPr>
              <a:t>08 —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21F3D"/>
                </a:solidFill>
                <a:latin typeface="Calibri"/>
              </a:rPr>
              <a:t>High-Risk Segments &amp; Opportunities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237744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61188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611880" cy="8229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B39"/>
                </a:solidFill>
                <a:latin typeface="Calibri"/>
              </a:rPr>
              <a:t>HIGH-RISK SEGMENTS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31089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21F3D"/>
                </a:solidFill>
                <a:latin typeface="Calibri"/>
              </a:rPr>
              <a:t>Month-to-month contracts — </a:t>
            </a:r>
            <a:r>
              <a:rPr sz="1250" b="0" i="0">
                <a:solidFill>
                  <a:srgbClr val="121F3D"/>
                </a:solidFill>
                <a:latin typeface="Calibri"/>
              </a:rPr>
              <a:t>42.71% churn — the dominant risk pool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21F3D"/>
                </a:solidFill>
                <a:latin typeface="Calibri"/>
              </a:rPr>
              <a:t>First-year customers — </a:t>
            </a:r>
            <a:r>
              <a:rPr sz="1250" b="0" i="0">
                <a:solidFill>
                  <a:srgbClr val="121F3D"/>
                </a:solidFill>
                <a:latin typeface="Calibri"/>
              </a:rPr>
              <a:t>47.44% churn within 0–12 months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21F3D"/>
                </a:solidFill>
                <a:latin typeface="Calibri"/>
              </a:rPr>
              <a:t>High bills + short tenure — </a:t>
            </a:r>
            <a:r>
              <a:rPr sz="1250" b="0" i="0">
                <a:solidFill>
                  <a:srgbClr val="121F3D"/>
                </a:solidFill>
                <a:latin typeface="Calibri"/>
              </a:rPr>
              <a:t>churners pay $74.44/mo and leave at 17.98 months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21F3D"/>
                </a:solidFill>
                <a:latin typeface="Calibri"/>
              </a:rPr>
              <a:t>Electronic-check payers — </a:t>
            </a:r>
            <a:r>
              <a:rPr sz="1250" b="0" i="0">
                <a:solidFill>
                  <a:srgbClr val="121F3D"/>
                </a:solidFill>
                <a:latin typeface="Calibri"/>
              </a:rPr>
              <a:t>largest churn count among payment methods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61188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611880" cy="82296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5EAA"/>
                </a:solidFill>
                <a:latin typeface="Calibri"/>
              </a:rPr>
              <a:t>BEHAVIOR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48840"/>
            <a:ext cx="31089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21F3D"/>
                </a:solidFill>
                <a:latin typeface="Calibri"/>
              </a:rPr>
              <a:t>No lock-in, no loyalty — </a:t>
            </a:r>
            <a:r>
              <a:rPr sz="1250" b="0" i="0">
                <a:solidFill>
                  <a:srgbClr val="121F3D"/>
                </a:solidFill>
                <a:latin typeface="Calibri"/>
              </a:rPr>
              <a:t>churn falls 42.71% → 11.27% → 2.83% as contract length rises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21F3D"/>
                </a:solidFill>
                <a:latin typeface="Calibri"/>
              </a:rPr>
              <a:t>Value erosion — </a:t>
            </a:r>
            <a:r>
              <a:rPr sz="1250" b="0" i="0">
                <a:solidFill>
                  <a:srgbClr val="121F3D"/>
                </a:solidFill>
                <a:latin typeface="Calibri"/>
              </a:rPr>
              <a:t>churners carry ~$13.18 higher monthly charges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21F3D"/>
                </a:solidFill>
                <a:latin typeface="Calibri"/>
              </a:rPr>
              <a:t>Risk decays with time — </a:t>
            </a:r>
            <a:r>
              <a:rPr sz="1250" b="0" i="0">
                <a:solidFill>
                  <a:srgbClr val="121F3D"/>
                </a:solidFill>
                <a:latin typeface="Calibri"/>
              </a:rPr>
              <a:t>tenure correlates −0.35 with churn; loyalty compounds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63040"/>
            <a:ext cx="361188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63040"/>
            <a:ext cx="3611880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6916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7B"/>
                </a:solidFill>
                <a:latin typeface="Calibri"/>
              </a:rPr>
              <a:t>OPPORTUNITIES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48840"/>
            <a:ext cx="31089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21F3D"/>
                </a:solidFill>
                <a:latin typeface="Calibri"/>
              </a:rPr>
              <a:t>Convert to contracts — </a:t>
            </a:r>
            <a:r>
              <a:rPr sz="1250" b="0" i="0">
                <a:solidFill>
                  <a:srgbClr val="121F3D"/>
                </a:solidFill>
                <a:latin typeface="Calibri"/>
              </a:rPr>
              <a:t>shift month-to-month users to 1–2 year plans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21F3D"/>
                </a:solidFill>
                <a:latin typeface="Calibri"/>
              </a:rPr>
              <a:t>Win the first year — </a:t>
            </a:r>
            <a:r>
              <a:rPr sz="1250" b="0" i="0">
                <a:solidFill>
                  <a:srgbClr val="121F3D"/>
                </a:solidFill>
                <a:latin typeface="Calibri"/>
              </a:rPr>
              <a:t>onboarding &amp; early-life engagement at 0–12 months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21F3D"/>
                </a:solidFill>
                <a:latin typeface="Calibri"/>
              </a:rPr>
              <a:t>Smooth billing — </a:t>
            </a:r>
            <a:r>
              <a:rPr sz="1250" b="0" i="0">
                <a:solidFill>
                  <a:srgbClr val="121F3D"/>
                </a:solidFill>
                <a:latin typeface="Calibri"/>
              </a:rPr>
              <a:t>migrate electronic-check users to automatic payments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21F3D"/>
                </a:solidFill>
                <a:latin typeface="Calibri"/>
              </a:rPr>
              <a:t>Review fiber-optic value — </a:t>
            </a:r>
            <a:r>
              <a:rPr sz="1250" b="0" i="0">
                <a:solidFill>
                  <a:srgbClr val="121F3D"/>
                </a:solidFill>
                <a:latin typeface="Calibri"/>
              </a:rPr>
              <a:t>address service experience for the largest churn pool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2"/>
                </a:solidFill>
                <a:latin typeface="Calibri"/>
              </a:rPr>
              <a:t>Telco Customer Churn — Business Analytics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2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07B39"/>
                </a:solidFill>
                <a:latin typeface="Calibri"/>
              </a:rPr>
              <a:t>09 —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Recommended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237744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155680" cy="896112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18488"/>
            <a:ext cx="502920" cy="502920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08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Prioritize the first-year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1965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9D4EA"/>
                </a:solidFill>
                <a:latin typeface="Calibri"/>
              </a:rPr>
              <a:t>47.44% churn in months 0–12 demands a dedicated onboarding program — welcome outreach, check-in calls, and early-issue resolution.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23160"/>
            <a:ext cx="11155680" cy="896112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2624328"/>
            <a:ext cx="502920" cy="502920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51460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Incentivize longer contracts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2549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9D4EA"/>
                </a:solidFill>
                <a:latin typeface="Calibri"/>
              </a:rPr>
              <a:t>Month-to-month churn (42.71%) collapses to 2.83% on two-year plans. Offer targeted upgrade incentives and discounts to at-risk monthly subscribers.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29000"/>
            <a:ext cx="11155680" cy="896112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5800" y="3630168"/>
            <a:ext cx="502920" cy="502920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5204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Address price sensitivity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83133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9D4EA"/>
                </a:solidFill>
                <a:latin typeface="Calibri"/>
              </a:rPr>
              <a:t>Churners pay $13.18/mo more on average. Introduce plan reviews, loyalty discounts, or downshift options for high-bill, low-tenure customers.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34840"/>
            <a:ext cx="11155680" cy="896112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5800" y="4636008"/>
            <a:ext cx="502920" cy="502920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262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Migrate customers to automatic 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83717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9D4EA"/>
                </a:solidFill>
                <a:latin typeface="Calibri"/>
              </a:rPr>
              <a:t>Electronic-check users churn disproportionately. Encourage bank-transfer or credit-card autopay enrollment to reduce billing friction.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440680"/>
            <a:ext cx="11155680" cy="896112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5800" y="5641848"/>
            <a:ext cx="502920" cy="502920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5321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Investigate fiber-optic service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84301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9D4EA"/>
                </a:solidFill>
                <a:latin typeface="Calibri"/>
              </a:rPr>
              <a:t>Fiber-optic holds the largest churn count. Audit service quality, support responsiveness, and perceived value for this segment.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FB3D9"/>
                </a:solidFill>
                <a:latin typeface="Calibri"/>
              </a:rPr>
              <a:t>Prepared by Richard Fajorin  •  AnalystLab Africa — Data Analytics Internship  •  Python · Pandas · Matplotlib · Seaborn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1018</Words>
  <Application>Microsoft Office PowerPoint</Application>
  <PresentationFormat>Widescreen</PresentationFormat>
  <Paragraphs>139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Richard Fajorin</cp:lastModifiedBy>
  <cp:revision>2</cp:revision>
  <dcterms:created xsi:type="dcterms:W3CDTF">2013-01-27T09:14:16Z</dcterms:created>
  <dcterms:modified xsi:type="dcterms:W3CDTF">2026-09-11T19:33:27Z</dcterms:modified>
  <cp:category/>
</cp:coreProperties>
</file>